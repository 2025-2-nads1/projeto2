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8790900" cy="43192700"/>
  <p:notesSz cx="6858000" cy="9144000"/>
  <p:embeddedFontLst>
    <p:embeddedFont>
      <p:font typeface="Arial" panose="020B0604020202020204" pitchFamily="34" charset="0"/>
      <p:regular r:id="rId4"/>
    </p:embeddedFont>
    <p:embeddedFont>
      <p:font typeface="Arial Bold" panose="020B0604020202020204" charset="0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SCR-N Seven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564" autoAdjust="0"/>
  </p:normalViewPr>
  <p:slideViewPr>
    <p:cSldViewPr>
      <p:cViewPr>
        <p:scale>
          <a:sx n="50" d="100"/>
          <a:sy n="50" d="100"/>
        </p:scale>
        <p:origin x="72" y="-44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16338" y="512763"/>
            <a:ext cx="17113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png"/><Relationship Id="rId22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740" y="10648"/>
            <a:ext cx="28774944" cy="43179343"/>
            <a:chOff x="0" y="0"/>
            <a:chExt cx="38366592" cy="57572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366573" cy="57572399"/>
            </a:xfrm>
            <a:custGeom>
              <a:avLst/>
              <a:gdLst/>
              <a:ahLst/>
              <a:cxnLst/>
              <a:rect l="l" t="t" r="r" b="b"/>
              <a:pathLst>
                <a:path w="38366573" h="57572399">
                  <a:moveTo>
                    <a:pt x="0" y="0"/>
                  </a:moveTo>
                  <a:lnTo>
                    <a:pt x="38366573" y="0"/>
                  </a:lnTo>
                  <a:lnTo>
                    <a:pt x="38366573" y="57572399"/>
                  </a:lnTo>
                  <a:lnTo>
                    <a:pt x="0" y="5757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r="-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05948" y="2851818"/>
            <a:ext cx="28800425" cy="766843"/>
            <a:chOff x="0" y="0"/>
            <a:chExt cx="38400567" cy="1022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0568" cy="1022458"/>
            </a:xfrm>
            <a:custGeom>
              <a:avLst/>
              <a:gdLst/>
              <a:ahLst/>
              <a:cxnLst/>
              <a:rect l="l" t="t" r="r" b="b"/>
              <a:pathLst>
                <a:path w="38400568" h="1022458">
                  <a:moveTo>
                    <a:pt x="0" y="0"/>
                  </a:moveTo>
                  <a:lnTo>
                    <a:pt x="38400568" y="0"/>
                  </a:lnTo>
                  <a:lnTo>
                    <a:pt x="38400568" y="1022458"/>
                  </a:lnTo>
                  <a:lnTo>
                    <a:pt x="0" y="10224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38400567" cy="1051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733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Bruno Faccio; José Aguiar; Luiza Alde; Maria Luisa;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3678" y="1112632"/>
            <a:ext cx="27924315" cy="2258359"/>
            <a:chOff x="0" y="0"/>
            <a:chExt cx="37232420" cy="30111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232419" cy="3011145"/>
            </a:xfrm>
            <a:custGeom>
              <a:avLst/>
              <a:gdLst/>
              <a:ahLst/>
              <a:cxnLst/>
              <a:rect l="l" t="t" r="r" b="b"/>
              <a:pathLst>
                <a:path w="37232419" h="3011145">
                  <a:moveTo>
                    <a:pt x="0" y="0"/>
                  </a:moveTo>
                  <a:lnTo>
                    <a:pt x="37232419" y="0"/>
                  </a:lnTo>
                  <a:lnTo>
                    <a:pt x="37232419" y="3011145"/>
                  </a:lnTo>
                  <a:lnTo>
                    <a:pt x="0" y="301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7232420" cy="3039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039"/>
                </a:lnSpc>
              </a:pPr>
              <a:r>
                <a:rPr lang="en-US" sz="5866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PICWORDS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40883" y="288300"/>
            <a:ext cx="25809904" cy="1648663"/>
            <a:chOff x="0" y="0"/>
            <a:chExt cx="34413205" cy="21982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413205" cy="2198217"/>
            </a:xfrm>
            <a:custGeom>
              <a:avLst/>
              <a:gdLst/>
              <a:ahLst/>
              <a:cxnLst/>
              <a:rect l="l" t="t" r="r" b="b"/>
              <a:pathLst>
                <a:path w="34413205" h="2198217">
                  <a:moveTo>
                    <a:pt x="0" y="0"/>
                  </a:moveTo>
                  <a:lnTo>
                    <a:pt x="34413205" y="0"/>
                  </a:lnTo>
                  <a:lnTo>
                    <a:pt x="34413205" y="2198217"/>
                  </a:lnTo>
                  <a:lnTo>
                    <a:pt x="0" y="2198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34413205" cy="2226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598"/>
                </a:lnSpc>
              </a:pPr>
              <a:r>
                <a:rPr lang="en-US" sz="7998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Semana de Tecnologia FECAP 2025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40" y="3235240"/>
            <a:ext cx="29592614" cy="1355109"/>
            <a:chOff x="0" y="0"/>
            <a:chExt cx="39456819" cy="18068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456820" cy="1806812"/>
            </a:xfrm>
            <a:custGeom>
              <a:avLst/>
              <a:gdLst/>
              <a:ahLst/>
              <a:cxnLst/>
              <a:rect l="l" t="t" r="r" b="b"/>
              <a:pathLst>
                <a:path w="39456820" h="1806812">
                  <a:moveTo>
                    <a:pt x="0" y="0"/>
                  </a:moveTo>
                  <a:lnTo>
                    <a:pt x="39456820" y="0"/>
                  </a:lnTo>
                  <a:lnTo>
                    <a:pt x="39456820" y="1806812"/>
                  </a:lnTo>
                  <a:lnTo>
                    <a:pt x="0" y="1806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9456819" cy="1816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99"/>
                </a:lnSpc>
              </a:pPr>
              <a:r>
                <a:rPr lang="en-US" sz="2666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Professores: Lucy Tabuti, Ronaldo Araújo, Eduardo Savino, Renata Muniz, Aimar Martins.</a:t>
              </a: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22752" y="40356014"/>
            <a:ext cx="3095947" cy="3115297"/>
            <a:chOff x="0" y="0"/>
            <a:chExt cx="4127929" cy="4153729"/>
          </a:xfrm>
        </p:grpSpPr>
        <p:sp>
          <p:nvSpPr>
            <p:cNvPr id="17" name="Freeform 17" descr="Uma imagem contendo óculos  O conteúdo gerado por IA pode estar incorreto."/>
            <p:cNvSpPr/>
            <p:nvPr/>
          </p:nvSpPr>
          <p:spPr>
            <a:xfrm>
              <a:off x="0" y="0"/>
              <a:ext cx="4127881" cy="4153789"/>
            </a:xfrm>
            <a:custGeom>
              <a:avLst/>
              <a:gdLst/>
              <a:ahLst/>
              <a:cxnLst/>
              <a:rect l="l" t="t" r="r" b="b"/>
              <a:pathLst>
                <a:path w="4127881" h="4153789">
                  <a:moveTo>
                    <a:pt x="0" y="0"/>
                  </a:moveTo>
                  <a:lnTo>
                    <a:pt x="4127881" y="0"/>
                  </a:lnTo>
                  <a:lnTo>
                    <a:pt x="4127881" y="4153789"/>
                  </a:lnTo>
                  <a:lnTo>
                    <a:pt x="0" y="4153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1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25801752" y="40382747"/>
            <a:ext cx="3095945" cy="3105591"/>
            <a:chOff x="0" y="0"/>
            <a:chExt cx="4127927" cy="4140788"/>
          </a:xfrm>
        </p:grpSpPr>
        <p:sp>
          <p:nvSpPr>
            <p:cNvPr id="19" name="Freeform 19" descr="Uma imagem contendo óculos, caneca  O conteúdo gerado por IA pode estar incorreto."/>
            <p:cNvSpPr/>
            <p:nvPr/>
          </p:nvSpPr>
          <p:spPr>
            <a:xfrm>
              <a:off x="0" y="0"/>
              <a:ext cx="4127881" cy="4140835"/>
            </a:xfrm>
            <a:custGeom>
              <a:avLst/>
              <a:gdLst/>
              <a:ahLst/>
              <a:cxnLst/>
              <a:rect l="l" t="t" r="r" b="b"/>
              <a:pathLst>
                <a:path w="4127881" h="4140835">
                  <a:moveTo>
                    <a:pt x="0" y="0"/>
                  </a:moveTo>
                  <a:lnTo>
                    <a:pt x="4127881" y="0"/>
                  </a:lnTo>
                  <a:lnTo>
                    <a:pt x="4127881" y="4140835"/>
                  </a:lnTo>
                  <a:lnTo>
                    <a:pt x="0" y="414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1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5148725" y="15981003"/>
            <a:ext cx="322484" cy="322484"/>
          </a:xfrm>
          <a:custGeom>
            <a:avLst/>
            <a:gdLst/>
            <a:ahLst/>
            <a:cxnLst/>
            <a:rect l="l" t="t" r="r" b="b"/>
            <a:pathLst>
              <a:path w="322484" h="322484">
                <a:moveTo>
                  <a:pt x="0" y="0"/>
                </a:moveTo>
                <a:lnTo>
                  <a:pt x="322484" y="0"/>
                </a:lnTo>
                <a:lnTo>
                  <a:pt x="322484" y="322484"/>
                </a:lnTo>
                <a:lnTo>
                  <a:pt x="0" y="32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6722488" y="14818921"/>
            <a:ext cx="1698382" cy="558271"/>
            <a:chOff x="0" y="0"/>
            <a:chExt cx="1274994" cy="419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89031" y="0"/>
                  </a:moveTo>
                  <a:lnTo>
                    <a:pt x="1185963" y="0"/>
                  </a:lnTo>
                  <a:cubicBezTo>
                    <a:pt x="1235133" y="0"/>
                    <a:pt x="1274994" y="39861"/>
                    <a:pt x="1274994" y="89031"/>
                  </a:cubicBezTo>
                  <a:lnTo>
                    <a:pt x="1274994" y="330069"/>
                  </a:lnTo>
                  <a:cubicBezTo>
                    <a:pt x="1274994" y="353681"/>
                    <a:pt x="1265614" y="376327"/>
                    <a:pt x="1248917" y="393023"/>
                  </a:cubicBezTo>
                  <a:cubicBezTo>
                    <a:pt x="1232221" y="409720"/>
                    <a:pt x="1209575" y="419100"/>
                    <a:pt x="1185963" y="419100"/>
                  </a:cubicBezTo>
                  <a:lnTo>
                    <a:pt x="89031" y="419100"/>
                  </a:lnTo>
                  <a:cubicBezTo>
                    <a:pt x="39861" y="419100"/>
                    <a:pt x="0" y="379239"/>
                    <a:pt x="0" y="330069"/>
                  </a:cubicBezTo>
                  <a:lnTo>
                    <a:pt x="0" y="89031"/>
                  </a:lnTo>
                  <a:cubicBezTo>
                    <a:pt x="0" y="39861"/>
                    <a:pt x="39861" y="0"/>
                    <a:pt x="89031" y="0"/>
                  </a:cubicBezTo>
                  <a:close/>
                </a:path>
              </a:pathLst>
            </a:custGeom>
            <a:solidFill>
              <a:srgbClr val="49A5C7"/>
            </a:solidFill>
            <a:ln w="38100" cap="rnd">
              <a:solidFill>
                <a:srgbClr val="CAA244"/>
              </a:solidFill>
              <a:prstDash val="sysDot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136" tIns="45136" rIns="45136" bIns="4513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2488" y="15480953"/>
            <a:ext cx="1698382" cy="558271"/>
            <a:chOff x="0" y="0"/>
            <a:chExt cx="1274994" cy="419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89031" y="0"/>
                  </a:moveTo>
                  <a:lnTo>
                    <a:pt x="1185963" y="0"/>
                  </a:lnTo>
                  <a:cubicBezTo>
                    <a:pt x="1235133" y="0"/>
                    <a:pt x="1274994" y="39861"/>
                    <a:pt x="1274994" y="89031"/>
                  </a:cubicBezTo>
                  <a:lnTo>
                    <a:pt x="1274994" y="330069"/>
                  </a:lnTo>
                  <a:cubicBezTo>
                    <a:pt x="1274994" y="353681"/>
                    <a:pt x="1265614" y="376327"/>
                    <a:pt x="1248917" y="393023"/>
                  </a:cubicBezTo>
                  <a:cubicBezTo>
                    <a:pt x="1232221" y="409720"/>
                    <a:pt x="1209575" y="419100"/>
                    <a:pt x="1185963" y="419100"/>
                  </a:cubicBezTo>
                  <a:lnTo>
                    <a:pt x="89031" y="419100"/>
                  </a:lnTo>
                  <a:cubicBezTo>
                    <a:pt x="39861" y="419100"/>
                    <a:pt x="0" y="379239"/>
                    <a:pt x="0" y="330069"/>
                  </a:cubicBezTo>
                  <a:lnTo>
                    <a:pt x="0" y="89031"/>
                  </a:lnTo>
                  <a:cubicBezTo>
                    <a:pt x="0" y="39861"/>
                    <a:pt x="39861" y="0"/>
                    <a:pt x="89031" y="0"/>
                  </a:cubicBezTo>
                  <a:close/>
                </a:path>
              </a:pathLst>
            </a:custGeom>
            <a:solidFill>
              <a:srgbClr val="49A5C7"/>
            </a:solidFill>
            <a:ln w="38100" cap="rnd">
              <a:solidFill>
                <a:srgbClr val="CAA244"/>
              </a:solidFill>
              <a:prstDash val="sysDot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136" tIns="45136" rIns="45136" bIns="4513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2488" y="16142245"/>
            <a:ext cx="1698382" cy="558271"/>
            <a:chOff x="0" y="0"/>
            <a:chExt cx="1274994" cy="419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89031" y="0"/>
                  </a:moveTo>
                  <a:lnTo>
                    <a:pt x="1185963" y="0"/>
                  </a:lnTo>
                  <a:cubicBezTo>
                    <a:pt x="1235133" y="0"/>
                    <a:pt x="1274994" y="39861"/>
                    <a:pt x="1274994" y="89031"/>
                  </a:cubicBezTo>
                  <a:lnTo>
                    <a:pt x="1274994" y="330069"/>
                  </a:lnTo>
                  <a:cubicBezTo>
                    <a:pt x="1274994" y="353681"/>
                    <a:pt x="1265614" y="376327"/>
                    <a:pt x="1248917" y="393023"/>
                  </a:cubicBezTo>
                  <a:cubicBezTo>
                    <a:pt x="1232221" y="409720"/>
                    <a:pt x="1209575" y="419100"/>
                    <a:pt x="1185963" y="419100"/>
                  </a:cubicBezTo>
                  <a:lnTo>
                    <a:pt x="89031" y="419100"/>
                  </a:lnTo>
                  <a:cubicBezTo>
                    <a:pt x="39861" y="419100"/>
                    <a:pt x="0" y="379239"/>
                    <a:pt x="0" y="330069"/>
                  </a:cubicBezTo>
                  <a:lnTo>
                    <a:pt x="0" y="89031"/>
                  </a:lnTo>
                  <a:cubicBezTo>
                    <a:pt x="0" y="39861"/>
                    <a:pt x="39861" y="0"/>
                    <a:pt x="89031" y="0"/>
                  </a:cubicBezTo>
                  <a:close/>
                </a:path>
              </a:pathLst>
            </a:custGeom>
            <a:solidFill>
              <a:srgbClr val="49A5C7"/>
            </a:solidFill>
            <a:ln w="38100" cap="rnd">
              <a:solidFill>
                <a:srgbClr val="CAA244"/>
              </a:solidFill>
              <a:prstDash val="sysDot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136" tIns="45136" rIns="45136" bIns="4513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2191900" y="12315172"/>
            <a:ext cx="8306644" cy="6669331"/>
            <a:chOff x="0" y="0"/>
            <a:chExt cx="7467600" cy="59956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8"/>
              <a:stretch>
                <a:fillRect t="-9337" r="-3045" b="-12952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8173636" y="14683042"/>
            <a:ext cx="1354193" cy="445133"/>
            <a:chOff x="0" y="0"/>
            <a:chExt cx="1274994" cy="4191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11660" y="0"/>
                  </a:moveTo>
                  <a:lnTo>
                    <a:pt x="1163334" y="0"/>
                  </a:lnTo>
                  <a:cubicBezTo>
                    <a:pt x="1225002" y="0"/>
                    <a:pt x="1274994" y="49992"/>
                    <a:pt x="1274994" y="111660"/>
                  </a:cubicBezTo>
                  <a:lnTo>
                    <a:pt x="1274994" y="307440"/>
                  </a:lnTo>
                  <a:cubicBezTo>
                    <a:pt x="1274994" y="337054"/>
                    <a:pt x="1263230" y="365455"/>
                    <a:pt x="1242290" y="386396"/>
                  </a:cubicBezTo>
                  <a:cubicBezTo>
                    <a:pt x="1221349" y="407336"/>
                    <a:pt x="1192948" y="419100"/>
                    <a:pt x="1163334" y="419100"/>
                  </a:cubicBezTo>
                  <a:lnTo>
                    <a:pt x="111660" y="419100"/>
                  </a:lnTo>
                  <a:cubicBezTo>
                    <a:pt x="49992" y="419100"/>
                    <a:pt x="0" y="369108"/>
                    <a:pt x="0" y="307440"/>
                  </a:cubicBezTo>
                  <a:lnTo>
                    <a:pt x="0" y="111660"/>
                  </a:lnTo>
                  <a:cubicBezTo>
                    <a:pt x="0" y="49992"/>
                    <a:pt x="49992" y="0"/>
                    <a:pt x="111660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32932" tIns="32932" rIns="32932" bIns="32932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73636" y="15345074"/>
            <a:ext cx="1354193" cy="445133"/>
            <a:chOff x="0" y="0"/>
            <a:chExt cx="1274994" cy="4191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11660" y="0"/>
                  </a:moveTo>
                  <a:lnTo>
                    <a:pt x="1163334" y="0"/>
                  </a:lnTo>
                  <a:cubicBezTo>
                    <a:pt x="1225002" y="0"/>
                    <a:pt x="1274994" y="49992"/>
                    <a:pt x="1274994" y="111660"/>
                  </a:cubicBezTo>
                  <a:lnTo>
                    <a:pt x="1274994" y="307440"/>
                  </a:lnTo>
                  <a:cubicBezTo>
                    <a:pt x="1274994" y="337054"/>
                    <a:pt x="1263230" y="365455"/>
                    <a:pt x="1242290" y="386396"/>
                  </a:cubicBezTo>
                  <a:cubicBezTo>
                    <a:pt x="1221349" y="407336"/>
                    <a:pt x="1192948" y="419100"/>
                    <a:pt x="1163334" y="419100"/>
                  </a:cubicBezTo>
                  <a:lnTo>
                    <a:pt x="111660" y="419100"/>
                  </a:lnTo>
                  <a:cubicBezTo>
                    <a:pt x="49992" y="419100"/>
                    <a:pt x="0" y="369108"/>
                    <a:pt x="0" y="307440"/>
                  </a:cubicBezTo>
                  <a:lnTo>
                    <a:pt x="0" y="111660"/>
                  </a:lnTo>
                  <a:cubicBezTo>
                    <a:pt x="0" y="49992"/>
                    <a:pt x="49992" y="0"/>
                    <a:pt x="111660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32932" tIns="32932" rIns="32932" bIns="32932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43036" y="16009283"/>
            <a:ext cx="1015392" cy="233604"/>
            <a:chOff x="0" y="0"/>
            <a:chExt cx="300986" cy="6924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00986" cy="69246"/>
            </a:xfrm>
            <a:custGeom>
              <a:avLst/>
              <a:gdLst/>
              <a:ahLst/>
              <a:cxnLst/>
              <a:rect l="l" t="t" r="r" b="b"/>
              <a:pathLst>
                <a:path w="300986" h="6924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CAA244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lIns="45136" tIns="45136" rIns="45136" bIns="45136" rtlCol="0" anchor="ctr"/>
            <a:lstStyle/>
            <a:p>
              <a:pPr algn="ctr">
                <a:lnSpc>
                  <a:spcPts val="3006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8393220" y="16069164"/>
            <a:ext cx="915024" cy="12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"/>
              </a:lnSpc>
            </a:pPr>
            <a:r>
              <a:rPr lang="en-US" sz="886" spc="62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22396" y="13315367"/>
            <a:ext cx="2856672" cy="61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sz="4374" spc="306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PIC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22396" y="13841115"/>
            <a:ext cx="2856672" cy="61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sz="437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WORDS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52761" y="14824762"/>
            <a:ext cx="1193791" cy="18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</a:pPr>
            <a:r>
              <a:rPr lang="en-US" sz="1332" spc="93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NEW GAME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52761" y="15486794"/>
            <a:ext cx="1193791" cy="18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</a:pPr>
            <a:r>
              <a:rPr lang="en-US" sz="1332" spc="93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RANKING</a:t>
            </a:r>
          </a:p>
        </p:txBody>
      </p:sp>
      <p:grpSp>
        <p:nvGrpSpPr>
          <p:cNvPr id="49" name="Group 49"/>
          <p:cNvGrpSpPr>
            <a:grpSpLocks noChangeAspect="1"/>
          </p:cNvGrpSpPr>
          <p:nvPr/>
        </p:nvGrpSpPr>
        <p:grpSpPr>
          <a:xfrm>
            <a:off x="2032528" y="26212219"/>
            <a:ext cx="8466016" cy="6797290"/>
            <a:chOff x="0" y="0"/>
            <a:chExt cx="7467600" cy="59956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9"/>
              <a:stretch>
                <a:fillRect t="-39006" b="-39006"/>
              </a:stretch>
            </a:blipFill>
          </p:spPr>
        </p:sp>
      </p:grpSp>
      <p:sp>
        <p:nvSpPr>
          <p:cNvPr id="54" name="Freeform 54"/>
          <p:cNvSpPr/>
          <p:nvPr/>
        </p:nvSpPr>
        <p:spPr>
          <a:xfrm>
            <a:off x="9519302" y="29841962"/>
            <a:ext cx="296997" cy="296997"/>
          </a:xfrm>
          <a:custGeom>
            <a:avLst/>
            <a:gdLst/>
            <a:ahLst/>
            <a:cxnLst/>
            <a:rect l="l" t="t" r="r" b="b"/>
            <a:pathLst>
              <a:path w="296997" h="296997">
                <a:moveTo>
                  <a:pt x="0" y="0"/>
                </a:moveTo>
                <a:lnTo>
                  <a:pt x="296997" y="0"/>
                </a:lnTo>
                <a:lnTo>
                  <a:pt x="296997" y="296997"/>
                </a:lnTo>
                <a:lnTo>
                  <a:pt x="0" y="296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55" name="Group 55"/>
          <p:cNvGrpSpPr/>
          <p:nvPr/>
        </p:nvGrpSpPr>
        <p:grpSpPr>
          <a:xfrm>
            <a:off x="7886086" y="27324790"/>
            <a:ext cx="2011598" cy="3301766"/>
            <a:chOff x="0" y="0"/>
            <a:chExt cx="585060" cy="960297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85060" cy="960297"/>
            </a:xfrm>
            <a:custGeom>
              <a:avLst/>
              <a:gdLst/>
              <a:ahLst/>
              <a:cxnLst/>
              <a:rect l="l" t="t" r="r" b="b"/>
              <a:pathLst>
                <a:path w="585060" h="960297">
                  <a:moveTo>
                    <a:pt x="0" y="0"/>
                  </a:moveTo>
                  <a:lnTo>
                    <a:pt x="585060" y="0"/>
                  </a:lnTo>
                  <a:lnTo>
                    <a:pt x="585060" y="960297"/>
                  </a:lnTo>
                  <a:lnTo>
                    <a:pt x="0" y="960297"/>
                  </a:lnTo>
                  <a:close/>
                </a:path>
              </a:pathLst>
            </a:custGeom>
            <a:solidFill>
              <a:srgbClr val="8AA79F"/>
            </a:solidFill>
            <a:ln w="9525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85060" cy="998397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699592" y="26841456"/>
            <a:ext cx="5061773" cy="3785100"/>
            <a:chOff x="0" y="0"/>
            <a:chExt cx="865991" cy="64757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65991" cy="647572"/>
            </a:xfrm>
            <a:custGeom>
              <a:avLst/>
              <a:gdLst/>
              <a:ahLst/>
              <a:cxnLst/>
              <a:rect l="l" t="t" r="r" b="b"/>
              <a:pathLst>
                <a:path w="865991" h="647572">
                  <a:moveTo>
                    <a:pt x="30590" y="0"/>
                  </a:moveTo>
                  <a:lnTo>
                    <a:pt x="835401" y="0"/>
                  </a:lnTo>
                  <a:cubicBezTo>
                    <a:pt x="843514" y="0"/>
                    <a:pt x="851294" y="3223"/>
                    <a:pt x="857031" y="8960"/>
                  </a:cubicBezTo>
                  <a:cubicBezTo>
                    <a:pt x="862768" y="14696"/>
                    <a:pt x="865991" y="22477"/>
                    <a:pt x="865991" y="30590"/>
                  </a:cubicBezTo>
                  <a:lnTo>
                    <a:pt x="865991" y="616982"/>
                  </a:lnTo>
                  <a:cubicBezTo>
                    <a:pt x="865991" y="625095"/>
                    <a:pt x="862768" y="632876"/>
                    <a:pt x="857031" y="638612"/>
                  </a:cubicBezTo>
                  <a:cubicBezTo>
                    <a:pt x="851294" y="644349"/>
                    <a:pt x="843514" y="647572"/>
                    <a:pt x="835401" y="647572"/>
                  </a:cubicBezTo>
                  <a:lnTo>
                    <a:pt x="30590" y="647572"/>
                  </a:lnTo>
                  <a:cubicBezTo>
                    <a:pt x="22477" y="647572"/>
                    <a:pt x="14696" y="644349"/>
                    <a:pt x="8960" y="638612"/>
                  </a:cubicBezTo>
                  <a:cubicBezTo>
                    <a:pt x="3223" y="632876"/>
                    <a:pt x="0" y="625095"/>
                    <a:pt x="0" y="616982"/>
                  </a:cubicBezTo>
                  <a:lnTo>
                    <a:pt x="0" y="30590"/>
                  </a:lnTo>
                  <a:cubicBezTo>
                    <a:pt x="0" y="22477"/>
                    <a:pt x="3223" y="14696"/>
                    <a:pt x="8960" y="8960"/>
                  </a:cubicBezTo>
                  <a:cubicBezTo>
                    <a:pt x="14696" y="3223"/>
                    <a:pt x="22477" y="0"/>
                    <a:pt x="30590" y="0"/>
                  </a:cubicBezTo>
                  <a:close/>
                </a:path>
              </a:pathLst>
            </a:custGeom>
            <a:blipFill>
              <a:blip r:embed="rId12"/>
              <a:stretch>
                <a:fillRect t="-13123" b="-70067"/>
              </a:stretch>
            </a:blipFill>
            <a:ln w="9525" cap="sq">
              <a:solidFill>
                <a:srgbClr val="FFFFFF"/>
              </a:solidFill>
              <a:prstDash val="lgDash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3768337" y="27301650"/>
            <a:ext cx="389360" cy="347591"/>
            <a:chOff x="0" y="0"/>
            <a:chExt cx="104763" cy="9352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768337" y="28123124"/>
            <a:ext cx="389360" cy="347591"/>
            <a:chOff x="0" y="0"/>
            <a:chExt cx="104763" cy="9352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768337" y="28535980"/>
            <a:ext cx="389360" cy="347591"/>
            <a:chOff x="0" y="0"/>
            <a:chExt cx="104763" cy="9352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768337" y="28948836"/>
            <a:ext cx="389360" cy="347591"/>
            <a:chOff x="0" y="0"/>
            <a:chExt cx="104763" cy="9352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768337" y="29352368"/>
            <a:ext cx="389360" cy="347591"/>
            <a:chOff x="0" y="0"/>
            <a:chExt cx="104763" cy="9352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768337" y="29755900"/>
            <a:ext cx="389360" cy="347591"/>
            <a:chOff x="0" y="0"/>
            <a:chExt cx="104763" cy="9352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 rot="-5400000">
            <a:off x="3781914" y="27677925"/>
            <a:ext cx="389360" cy="416515"/>
            <a:chOff x="0" y="0"/>
            <a:chExt cx="104763" cy="11207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4763" cy="112070"/>
            </a:xfrm>
            <a:custGeom>
              <a:avLst/>
              <a:gdLst/>
              <a:ahLst/>
              <a:cxnLst/>
              <a:rect l="l" t="t" r="r" b="b"/>
              <a:pathLst>
                <a:path w="104763" h="112070">
                  <a:moveTo>
                    <a:pt x="0" y="0"/>
                  </a:moveTo>
                  <a:lnTo>
                    <a:pt x="104763" y="0"/>
                  </a:lnTo>
                  <a:lnTo>
                    <a:pt x="104763" y="112070"/>
                  </a:lnTo>
                  <a:lnTo>
                    <a:pt x="0" y="11207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04763" cy="150170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 rot="-5400000">
            <a:off x="4224995" y="27712387"/>
            <a:ext cx="389360" cy="347591"/>
            <a:chOff x="0" y="0"/>
            <a:chExt cx="104763" cy="9352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 rot="-5400000">
            <a:off x="4637851" y="27712387"/>
            <a:ext cx="389360" cy="347591"/>
            <a:chOff x="0" y="0"/>
            <a:chExt cx="104763" cy="9352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 rot="-5400000">
            <a:off x="5050706" y="27712387"/>
            <a:ext cx="389360" cy="347591"/>
            <a:chOff x="0" y="0"/>
            <a:chExt cx="104763" cy="9352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 rot="-5400000">
            <a:off x="5463562" y="27712387"/>
            <a:ext cx="389360" cy="347591"/>
            <a:chOff x="0" y="0"/>
            <a:chExt cx="104763" cy="9352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 rot="-5400000">
            <a:off x="5867094" y="27712387"/>
            <a:ext cx="389360" cy="347591"/>
            <a:chOff x="0" y="0"/>
            <a:chExt cx="104763" cy="9352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 rot="-5400000">
            <a:off x="6270627" y="27712387"/>
            <a:ext cx="389360" cy="347591"/>
            <a:chOff x="0" y="0"/>
            <a:chExt cx="104763" cy="93525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 rot="-10800000">
            <a:off x="5463562" y="29361691"/>
            <a:ext cx="389360" cy="347591"/>
            <a:chOff x="0" y="0"/>
            <a:chExt cx="104763" cy="93525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 rot="-10800000">
            <a:off x="5463562" y="28948836"/>
            <a:ext cx="389360" cy="347591"/>
            <a:chOff x="0" y="0"/>
            <a:chExt cx="104763" cy="9352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5" name="Group 105"/>
          <p:cNvGrpSpPr/>
          <p:nvPr/>
        </p:nvGrpSpPr>
        <p:grpSpPr>
          <a:xfrm rot="-10800000">
            <a:off x="5463562" y="28535980"/>
            <a:ext cx="389360" cy="347591"/>
            <a:chOff x="0" y="0"/>
            <a:chExt cx="104763" cy="93525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8" name="Group 108"/>
          <p:cNvGrpSpPr/>
          <p:nvPr/>
        </p:nvGrpSpPr>
        <p:grpSpPr>
          <a:xfrm rot="-10800000">
            <a:off x="5463562" y="28123124"/>
            <a:ext cx="389360" cy="347591"/>
            <a:chOff x="0" y="0"/>
            <a:chExt cx="104763" cy="93525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4763" cy="93525"/>
            </a:xfrm>
            <a:custGeom>
              <a:avLst/>
              <a:gdLst/>
              <a:ahLst/>
              <a:cxnLst/>
              <a:rect l="l" t="t" r="r" b="b"/>
              <a:pathLst>
                <a:path w="104763" h="93525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1" name="Group 111"/>
          <p:cNvGrpSpPr/>
          <p:nvPr/>
        </p:nvGrpSpPr>
        <p:grpSpPr>
          <a:xfrm rot="5400000">
            <a:off x="6744085" y="29359454"/>
            <a:ext cx="333419" cy="347591"/>
            <a:chOff x="0" y="0"/>
            <a:chExt cx="89711" cy="93525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9711" cy="93525"/>
            </a:xfrm>
            <a:custGeom>
              <a:avLst/>
              <a:gdLst/>
              <a:ahLst/>
              <a:cxnLst/>
              <a:rect l="l" t="t" r="r" b="b"/>
              <a:pathLst>
                <a:path w="89711" h="93525">
                  <a:moveTo>
                    <a:pt x="0" y="0"/>
                  </a:moveTo>
                  <a:lnTo>
                    <a:pt x="89711" y="0"/>
                  </a:lnTo>
                  <a:lnTo>
                    <a:pt x="89711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0" y="-38100"/>
              <a:ext cx="89711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4" name="Group 114"/>
          <p:cNvGrpSpPr/>
          <p:nvPr/>
        </p:nvGrpSpPr>
        <p:grpSpPr>
          <a:xfrm rot="5400000">
            <a:off x="6331230" y="29359454"/>
            <a:ext cx="333419" cy="347591"/>
            <a:chOff x="0" y="0"/>
            <a:chExt cx="89711" cy="93525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89711" cy="93525"/>
            </a:xfrm>
            <a:custGeom>
              <a:avLst/>
              <a:gdLst/>
              <a:ahLst/>
              <a:cxnLst/>
              <a:rect l="l" t="t" r="r" b="b"/>
              <a:pathLst>
                <a:path w="89711" h="93525">
                  <a:moveTo>
                    <a:pt x="0" y="0"/>
                  </a:moveTo>
                  <a:lnTo>
                    <a:pt x="89711" y="0"/>
                  </a:lnTo>
                  <a:lnTo>
                    <a:pt x="89711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0" y="-38100"/>
              <a:ext cx="89711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7" name="Group 117"/>
          <p:cNvGrpSpPr/>
          <p:nvPr/>
        </p:nvGrpSpPr>
        <p:grpSpPr>
          <a:xfrm rot="5400000">
            <a:off x="5918374" y="29359454"/>
            <a:ext cx="333419" cy="347591"/>
            <a:chOff x="0" y="0"/>
            <a:chExt cx="89711" cy="93525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89711" cy="93525"/>
            </a:xfrm>
            <a:custGeom>
              <a:avLst/>
              <a:gdLst/>
              <a:ahLst/>
              <a:cxnLst/>
              <a:rect l="l" t="t" r="r" b="b"/>
              <a:pathLst>
                <a:path w="89711" h="93525">
                  <a:moveTo>
                    <a:pt x="0" y="0"/>
                  </a:moveTo>
                  <a:lnTo>
                    <a:pt x="89711" y="0"/>
                  </a:lnTo>
                  <a:lnTo>
                    <a:pt x="89711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0" y="-38100"/>
              <a:ext cx="89711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0" name="Group 120"/>
          <p:cNvGrpSpPr/>
          <p:nvPr/>
        </p:nvGrpSpPr>
        <p:grpSpPr>
          <a:xfrm rot="5400000">
            <a:off x="4195178" y="29755900"/>
            <a:ext cx="361390" cy="347591"/>
            <a:chOff x="0" y="0"/>
            <a:chExt cx="97237" cy="93525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97237" cy="93525"/>
            </a:xfrm>
            <a:custGeom>
              <a:avLst/>
              <a:gdLst/>
              <a:ahLst/>
              <a:cxnLst/>
              <a:rect l="l" t="t" r="r" b="b"/>
              <a:pathLst>
                <a:path w="97237" h="93525">
                  <a:moveTo>
                    <a:pt x="0" y="0"/>
                  </a:moveTo>
                  <a:lnTo>
                    <a:pt x="97237" y="0"/>
                  </a:lnTo>
                  <a:lnTo>
                    <a:pt x="97237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0" y="-38100"/>
              <a:ext cx="97237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3" name="Group 123"/>
          <p:cNvGrpSpPr/>
          <p:nvPr/>
        </p:nvGrpSpPr>
        <p:grpSpPr>
          <a:xfrm rot="5400000">
            <a:off x="3369466" y="29755900"/>
            <a:ext cx="361390" cy="347591"/>
            <a:chOff x="0" y="0"/>
            <a:chExt cx="97237" cy="93525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97237" cy="93525"/>
            </a:xfrm>
            <a:custGeom>
              <a:avLst/>
              <a:gdLst/>
              <a:ahLst/>
              <a:cxnLst/>
              <a:rect l="l" t="t" r="r" b="b"/>
              <a:pathLst>
                <a:path w="97237" h="93525">
                  <a:moveTo>
                    <a:pt x="0" y="0"/>
                  </a:moveTo>
                  <a:lnTo>
                    <a:pt x="97237" y="0"/>
                  </a:lnTo>
                  <a:lnTo>
                    <a:pt x="97237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0" y="-38100"/>
              <a:ext cx="97237" cy="131625"/>
            </a:xfrm>
            <a:prstGeom prst="rect">
              <a:avLst/>
            </a:prstGeom>
          </p:spPr>
          <p:txBody>
            <a:bodyPr lIns="49726" tIns="49726" rIns="49726" bIns="4972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7886086" y="26841456"/>
            <a:ext cx="2011598" cy="417354"/>
            <a:chOff x="0" y="0"/>
            <a:chExt cx="585060" cy="121385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85060" cy="121385"/>
            </a:xfrm>
            <a:custGeom>
              <a:avLst/>
              <a:gdLst/>
              <a:ahLst/>
              <a:cxnLst/>
              <a:rect l="l" t="t" r="r" b="b"/>
              <a:pathLst>
                <a:path w="585060" h="121385">
                  <a:moveTo>
                    <a:pt x="0" y="0"/>
                  </a:moveTo>
                  <a:lnTo>
                    <a:pt x="585060" y="0"/>
                  </a:lnTo>
                  <a:lnTo>
                    <a:pt x="585060" y="121385"/>
                  </a:lnTo>
                  <a:lnTo>
                    <a:pt x="0" y="121385"/>
                  </a:lnTo>
                  <a:close/>
                </a:path>
              </a:pathLst>
            </a:custGeom>
            <a:solidFill>
              <a:srgbClr val="8AA79F"/>
            </a:solidFill>
            <a:ln w="9525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0" y="-38100"/>
              <a:ext cx="585060" cy="15948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6353867" y="26964613"/>
            <a:ext cx="1275634" cy="153789"/>
            <a:chOff x="0" y="0"/>
            <a:chExt cx="812800" cy="98021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812800" cy="98021"/>
            </a:xfrm>
            <a:custGeom>
              <a:avLst/>
              <a:gdLst/>
              <a:ahLst/>
              <a:cxnLst/>
              <a:rect l="l" t="t" r="r" b="b"/>
              <a:pathLst>
                <a:path w="812800" h="98021">
                  <a:moveTo>
                    <a:pt x="812800" y="49011"/>
                  </a:moveTo>
                  <a:lnTo>
                    <a:pt x="812800" y="49011"/>
                  </a:lnTo>
                  <a:cubicBezTo>
                    <a:pt x="812800" y="76078"/>
                    <a:pt x="790857" y="98021"/>
                    <a:pt x="763789" y="98021"/>
                  </a:cubicBezTo>
                  <a:lnTo>
                    <a:pt x="49011" y="98021"/>
                  </a:lnTo>
                  <a:cubicBezTo>
                    <a:pt x="36012" y="98021"/>
                    <a:pt x="23546" y="92858"/>
                    <a:pt x="14355" y="83666"/>
                  </a:cubicBezTo>
                  <a:cubicBezTo>
                    <a:pt x="5164" y="74475"/>
                    <a:pt x="0" y="62009"/>
                    <a:pt x="0" y="49011"/>
                  </a:cubicBezTo>
                  <a:lnTo>
                    <a:pt x="0" y="49011"/>
                  </a:lnTo>
                  <a:cubicBezTo>
                    <a:pt x="0" y="36012"/>
                    <a:pt x="5164" y="23546"/>
                    <a:pt x="14355" y="14355"/>
                  </a:cubicBezTo>
                  <a:cubicBezTo>
                    <a:pt x="23546" y="5164"/>
                    <a:pt x="36012" y="0"/>
                    <a:pt x="49011" y="0"/>
                  </a:cubicBezTo>
                  <a:lnTo>
                    <a:pt x="763789" y="0"/>
                  </a:lnTo>
                  <a:cubicBezTo>
                    <a:pt x="776788" y="0"/>
                    <a:pt x="789254" y="5164"/>
                    <a:pt x="798445" y="14355"/>
                  </a:cubicBezTo>
                  <a:cubicBezTo>
                    <a:pt x="807636" y="23546"/>
                    <a:pt x="812800" y="36012"/>
                    <a:pt x="812800" y="49011"/>
                  </a:cubicBezTo>
                  <a:close/>
                </a:path>
              </a:pathLst>
            </a:custGeom>
            <a:solidFill>
              <a:srgbClr val="366457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0" y="-47625"/>
              <a:ext cx="812800" cy="145646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006"/>
                </a:lnSpc>
              </a:pPr>
              <a:endParaRPr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7947615" y="29736466"/>
            <a:ext cx="1888538" cy="668731"/>
            <a:chOff x="0" y="0"/>
            <a:chExt cx="549269" cy="194496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49269" cy="194496"/>
            </a:xfrm>
            <a:custGeom>
              <a:avLst/>
              <a:gdLst/>
              <a:ahLst/>
              <a:cxnLst/>
              <a:rect l="l" t="t" r="r" b="b"/>
              <a:pathLst>
                <a:path w="549269" h="194496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id="134" name="TextBox 134"/>
            <p:cNvSpPr txBox="1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7948101" y="27471512"/>
            <a:ext cx="1888538" cy="668731"/>
            <a:chOff x="0" y="0"/>
            <a:chExt cx="549269" cy="194496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549269" cy="194496"/>
            </a:xfrm>
            <a:custGeom>
              <a:avLst/>
              <a:gdLst/>
              <a:ahLst/>
              <a:cxnLst/>
              <a:rect l="l" t="t" r="r" b="b"/>
              <a:pathLst>
                <a:path w="549269" h="194496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id="137" name="TextBox 137"/>
            <p:cNvSpPr txBox="1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8" name="TextBox 138"/>
          <p:cNvSpPr txBox="1"/>
          <p:nvPr/>
        </p:nvSpPr>
        <p:spPr>
          <a:xfrm>
            <a:off x="8050871" y="27715991"/>
            <a:ext cx="230056" cy="20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1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8364813" y="27674194"/>
            <a:ext cx="1302987" cy="279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"/>
              </a:lnSpc>
            </a:pPr>
            <a:r>
              <a:rPr lang="en-US" sz="727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PRINCIPAL SÍMBOLO DO BAIRRO, ACESO À NOITE. </a:t>
            </a:r>
          </a:p>
        </p:txBody>
      </p:sp>
      <p:grpSp>
        <p:nvGrpSpPr>
          <p:cNvPr id="140" name="Group 140"/>
          <p:cNvGrpSpPr/>
          <p:nvPr/>
        </p:nvGrpSpPr>
        <p:grpSpPr>
          <a:xfrm>
            <a:off x="7947615" y="28226497"/>
            <a:ext cx="1888538" cy="668731"/>
            <a:chOff x="0" y="0"/>
            <a:chExt cx="549269" cy="194496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549269" cy="194496"/>
            </a:xfrm>
            <a:custGeom>
              <a:avLst/>
              <a:gdLst/>
              <a:ahLst/>
              <a:cxnLst/>
              <a:rect l="l" t="t" r="r" b="b"/>
              <a:pathLst>
                <a:path w="549269" h="194496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id="142" name="TextBox 142"/>
            <p:cNvSpPr txBox="1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3" name="TextBox 143"/>
          <p:cNvSpPr txBox="1"/>
          <p:nvPr/>
        </p:nvSpPr>
        <p:spPr>
          <a:xfrm>
            <a:off x="8364813" y="28421520"/>
            <a:ext cx="1302987" cy="27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"/>
              </a:lnSpc>
            </a:pPr>
            <a:r>
              <a:rPr lang="en-US" sz="724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GRANDE FEIRA DE RUA QUE ACONTECE AOS FINAIS DE SEMANA. </a:t>
            </a:r>
          </a:p>
        </p:txBody>
      </p:sp>
      <p:grpSp>
        <p:nvGrpSpPr>
          <p:cNvPr id="144" name="Group 144"/>
          <p:cNvGrpSpPr/>
          <p:nvPr/>
        </p:nvGrpSpPr>
        <p:grpSpPr>
          <a:xfrm>
            <a:off x="7948101" y="28981481"/>
            <a:ext cx="1888538" cy="668731"/>
            <a:chOff x="0" y="0"/>
            <a:chExt cx="549269" cy="194496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549269" cy="194496"/>
            </a:xfrm>
            <a:custGeom>
              <a:avLst/>
              <a:gdLst/>
              <a:ahLst/>
              <a:cxnLst/>
              <a:rect l="l" t="t" r="r" b="b"/>
              <a:pathLst>
                <a:path w="549269" h="194496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id="146" name="TextBox 146"/>
            <p:cNvSpPr txBox="1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8364813" y="29092198"/>
            <a:ext cx="1264689" cy="447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"/>
              </a:lnSpc>
            </a:pPr>
            <a:r>
              <a:rPr lang="en-US" sz="724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PRINCIPAL CULTURA IMIGRANTE HOMENAGEADA NA ARQUITETURA E CULINÁRIA.</a:t>
            </a:r>
          </a:p>
        </p:txBody>
      </p:sp>
      <p:grpSp>
        <p:nvGrpSpPr>
          <p:cNvPr id="148" name="Group 148"/>
          <p:cNvGrpSpPr/>
          <p:nvPr/>
        </p:nvGrpSpPr>
        <p:grpSpPr>
          <a:xfrm>
            <a:off x="2633389" y="30670783"/>
            <a:ext cx="915154" cy="210543"/>
            <a:chOff x="0" y="0"/>
            <a:chExt cx="300986" cy="69246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300986" cy="69246"/>
            </a:xfrm>
            <a:custGeom>
              <a:avLst/>
              <a:gdLst/>
              <a:ahLst/>
              <a:cxnLst/>
              <a:rect l="l" t="t" r="r" b="b"/>
              <a:pathLst>
                <a:path w="300986" h="6924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366457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lIns="40680" tIns="40680" rIns="40680" bIns="40680" rtlCol="0" anchor="ctr"/>
            <a:lstStyle/>
            <a:p>
              <a:pPr algn="ctr">
                <a:lnSpc>
                  <a:spcPts val="3006"/>
                </a:lnSpc>
              </a:pPr>
              <a:endParaRPr/>
            </a:p>
          </p:txBody>
        </p:sp>
      </p:grpSp>
      <p:sp>
        <p:nvSpPr>
          <p:cNvPr id="151" name="TextBox 151"/>
          <p:cNvSpPr txBox="1"/>
          <p:nvPr/>
        </p:nvSpPr>
        <p:spPr>
          <a:xfrm>
            <a:off x="2678619" y="30716168"/>
            <a:ext cx="824694" cy="11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"/>
              </a:lnSpc>
            </a:pPr>
            <a:r>
              <a:rPr lang="en-US" sz="799" spc="55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8154267" y="26934376"/>
            <a:ext cx="1475236" cy="24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</a:pPr>
            <a:r>
              <a:rPr lang="en-US" sz="1811" spc="126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DICAS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8364813" y="29931489"/>
            <a:ext cx="1264689" cy="278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"/>
              </a:lnSpc>
            </a:pPr>
            <a:r>
              <a:rPr lang="en-US" sz="724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PRINCIPAL MEIO DE TRANSPORTE QUE LEVA AO BAIRRO.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6567909" y="27019270"/>
            <a:ext cx="847550" cy="6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"/>
              </a:lnSpc>
            </a:pPr>
            <a:r>
              <a:rPr lang="en-US" sz="543" spc="38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VERIFICAR</a:t>
            </a:r>
          </a:p>
        </p:txBody>
      </p:sp>
      <p:grpSp>
        <p:nvGrpSpPr>
          <p:cNvPr id="155" name="Group 155"/>
          <p:cNvGrpSpPr>
            <a:grpSpLocks noChangeAspect="1"/>
          </p:cNvGrpSpPr>
          <p:nvPr/>
        </p:nvGrpSpPr>
        <p:grpSpPr>
          <a:xfrm>
            <a:off x="2099184" y="19226475"/>
            <a:ext cx="8399361" cy="6743772"/>
            <a:chOff x="0" y="0"/>
            <a:chExt cx="7467600" cy="599567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7" name="Freeform 15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158" name="Freeform 158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159" name="Freeform 15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3"/>
              <a:stretch>
                <a:fillRect t="-39006" b="-39006"/>
              </a:stretch>
            </a:blipFill>
          </p:spPr>
        </p:sp>
      </p:grpSp>
      <p:grpSp>
        <p:nvGrpSpPr>
          <p:cNvPr id="160" name="Group 160"/>
          <p:cNvGrpSpPr/>
          <p:nvPr/>
        </p:nvGrpSpPr>
        <p:grpSpPr>
          <a:xfrm>
            <a:off x="3274181" y="20176837"/>
            <a:ext cx="6049368" cy="3038749"/>
            <a:chOff x="0" y="0"/>
            <a:chExt cx="4867461" cy="2445047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4867461" cy="2445047"/>
            </a:xfrm>
            <a:custGeom>
              <a:avLst/>
              <a:gdLst/>
              <a:ahLst/>
              <a:cxnLst/>
              <a:rect l="l" t="t" r="r" b="b"/>
              <a:pathLst>
                <a:path w="4867461" h="2445047">
                  <a:moveTo>
                    <a:pt x="24996" y="0"/>
                  </a:moveTo>
                  <a:lnTo>
                    <a:pt x="4842465" y="0"/>
                  </a:lnTo>
                  <a:cubicBezTo>
                    <a:pt x="4856269" y="0"/>
                    <a:pt x="4867461" y="11191"/>
                    <a:pt x="4867461" y="24996"/>
                  </a:cubicBezTo>
                  <a:lnTo>
                    <a:pt x="4867461" y="2420052"/>
                  </a:lnTo>
                  <a:cubicBezTo>
                    <a:pt x="4867461" y="2433856"/>
                    <a:pt x="4856269" y="2445047"/>
                    <a:pt x="4842465" y="2445047"/>
                  </a:cubicBezTo>
                  <a:lnTo>
                    <a:pt x="24996" y="2445047"/>
                  </a:lnTo>
                  <a:cubicBezTo>
                    <a:pt x="18367" y="2445047"/>
                    <a:pt x="12009" y="2442414"/>
                    <a:pt x="7321" y="2437726"/>
                  </a:cubicBezTo>
                  <a:cubicBezTo>
                    <a:pt x="2633" y="2433039"/>
                    <a:pt x="0" y="2426681"/>
                    <a:pt x="0" y="2420052"/>
                  </a:cubicBezTo>
                  <a:lnTo>
                    <a:pt x="0" y="24996"/>
                  </a:lnTo>
                  <a:cubicBezTo>
                    <a:pt x="0" y="11191"/>
                    <a:pt x="11191" y="0"/>
                    <a:pt x="24996" y="0"/>
                  </a:cubicBezTo>
                  <a:close/>
                </a:path>
              </a:pathLst>
            </a:custGeom>
            <a:solidFill>
              <a:srgbClr val="294A5B">
                <a:alpha val="69804"/>
              </a:srgbClr>
            </a:solidFill>
            <a:ln w="19050" cap="rnd">
              <a:solidFill>
                <a:srgbClr val="FFFFFF">
                  <a:alpha val="69804"/>
                </a:srgbClr>
              </a:solidFill>
              <a:prstDash val="dash"/>
              <a:round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0" y="-38100"/>
              <a:ext cx="4867461" cy="2483147"/>
            </a:xfrm>
            <a:prstGeom prst="rect">
              <a:avLst/>
            </a:prstGeom>
          </p:spPr>
          <p:txBody>
            <a:bodyPr lIns="45640" tIns="45640" rIns="45640" bIns="456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4006100" y="21208268"/>
            <a:ext cx="1247733" cy="410139"/>
            <a:chOff x="0" y="0"/>
            <a:chExt cx="1274994" cy="419100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640" tIns="45640" rIns="45640" bIns="456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4006100" y="21729457"/>
            <a:ext cx="1247733" cy="410139"/>
            <a:chOff x="0" y="0"/>
            <a:chExt cx="1274994" cy="419100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640" tIns="45640" rIns="45640" bIns="456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4006100" y="22253896"/>
            <a:ext cx="1247733" cy="410139"/>
            <a:chOff x="0" y="0"/>
            <a:chExt cx="1274994" cy="419100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640" tIns="45640" rIns="45640" bIns="456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2" name="AutoShape 172"/>
          <p:cNvSpPr/>
          <p:nvPr/>
        </p:nvSpPr>
        <p:spPr>
          <a:xfrm flipH="1" flipV="1">
            <a:off x="6277471" y="20541865"/>
            <a:ext cx="17115" cy="2474613"/>
          </a:xfrm>
          <a:prstGeom prst="line">
            <a:avLst/>
          </a:prstGeom>
          <a:ln w="952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73" name="Group 173"/>
          <p:cNvGrpSpPr/>
          <p:nvPr/>
        </p:nvGrpSpPr>
        <p:grpSpPr>
          <a:xfrm>
            <a:off x="2610798" y="23512400"/>
            <a:ext cx="907949" cy="208885"/>
            <a:chOff x="0" y="0"/>
            <a:chExt cx="300986" cy="69246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300986" cy="69246"/>
            </a:xfrm>
            <a:custGeom>
              <a:avLst/>
              <a:gdLst/>
              <a:ahLst/>
              <a:cxnLst/>
              <a:rect l="l" t="t" r="r" b="b"/>
              <a:pathLst>
                <a:path w="300986" h="6924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CAA244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75" name="TextBox 175"/>
            <p:cNvSpPr txBox="1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lIns="40360" tIns="40360" rIns="40360" bIns="40360" rtlCol="0" anchor="ctr"/>
            <a:lstStyle/>
            <a:p>
              <a:pPr algn="ctr">
                <a:lnSpc>
                  <a:spcPts val="3006"/>
                </a:lnSpc>
              </a:pPr>
              <a:endParaRPr/>
            </a:p>
          </p:txBody>
        </p:sp>
      </p:grpSp>
      <p:sp>
        <p:nvSpPr>
          <p:cNvPr id="176" name="TextBox 176"/>
          <p:cNvSpPr txBox="1"/>
          <p:nvPr/>
        </p:nvSpPr>
        <p:spPr>
          <a:xfrm>
            <a:off x="2655672" y="23557428"/>
            <a:ext cx="818201" cy="1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"/>
              </a:lnSpc>
            </a:pPr>
            <a:r>
              <a:rPr lang="en-US" sz="792" spc="55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4317604" y="21321122"/>
            <a:ext cx="700926" cy="192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FÁCIL 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4252647" y="21854131"/>
            <a:ext cx="830838" cy="19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MÉDIO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4272750" y="22367512"/>
            <a:ext cx="790633" cy="192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DIFÍCIL 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3522679" y="20570440"/>
            <a:ext cx="2394185" cy="24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796" spc="125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HISTÓRIA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6376778" y="20570440"/>
            <a:ext cx="2720943" cy="24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796" spc="125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MATEMÁTICA</a:t>
            </a:r>
          </a:p>
        </p:txBody>
      </p:sp>
      <p:sp>
        <p:nvSpPr>
          <p:cNvPr id="182" name="Freeform 182"/>
          <p:cNvSpPr/>
          <p:nvPr/>
        </p:nvSpPr>
        <p:spPr>
          <a:xfrm>
            <a:off x="18061836" y="12252687"/>
            <a:ext cx="2248032" cy="2248032"/>
          </a:xfrm>
          <a:custGeom>
            <a:avLst/>
            <a:gdLst/>
            <a:ahLst/>
            <a:cxnLst/>
            <a:rect l="l" t="t" r="r" b="b"/>
            <a:pathLst>
              <a:path w="2248032" h="2248032">
                <a:moveTo>
                  <a:pt x="0" y="0"/>
                </a:moveTo>
                <a:lnTo>
                  <a:pt x="2248032" y="0"/>
                </a:lnTo>
                <a:lnTo>
                  <a:pt x="2248032" y="2248032"/>
                </a:lnTo>
                <a:lnTo>
                  <a:pt x="0" y="22480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83" name="Freeform 183"/>
          <p:cNvSpPr/>
          <p:nvPr/>
        </p:nvSpPr>
        <p:spPr>
          <a:xfrm>
            <a:off x="21470896" y="12388191"/>
            <a:ext cx="1757080" cy="1977024"/>
          </a:xfrm>
          <a:custGeom>
            <a:avLst/>
            <a:gdLst/>
            <a:ahLst/>
            <a:cxnLst/>
            <a:rect l="l" t="t" r="r" b="b"/>
            <a:pathLst>
              <a:path w="1757080" h="1977024">
                <a:moveTo>
                  <a:pt x="0" y="0"/>
                </a:moveTo>
                <a:lnTo>
                  <a:pt x="1757080" y="0"/>
                </a:lnTo>
                <a:lnTo>
                  <a:pt x="1757080" y="1977024"/>
                </a:lnTo>
                <a:lnTo>
                  <a:pt x="0" y="197702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84" name="Freeform 184"/>
          <p:cNvSpPr/>
          <p:nvPr/>
        </p:nvSpPr>
        <p:spPr>
          <a:xfrm>
            <a:off x="24560931" y="12388191"/>
            <a:ext cx="1982987" cy="1982987"/>
          </a:xfrm>
          <a:custGeom>
            <a:avLst/>
            <a:gdLst/>
            <a:ahLst/>
            <a:cxnLst/>
            <a:rect l="l" t="t" r="r" b="b"/>
            <a:pathLst>
              <a:path w="1982987" h="1982987">
                <a:moveTo>
                  <a:pt x="0" y="0"/>
                </a:moveTo>
                <a:lnTo>
                  <a:pt x="1982988" y="0"/>
                </a:lnTo>
                <a:lnTo>
                  <a:pt x="1982988" y="1982988"/>
                </a:lnTo>
                <a:lnTo>
                  <a:pt x="0" y="19829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grpSp>
        <p:nvGrpSpPr>
          <p:cNvPr id="185" name="Group 185"/>
          <p:cNvGrpSpPr/>
          <p:nvPr/>
        </p:nvGrpSpPr>
        <p:grpSpPr>
          <a:xfrm>
            <a:off x="16498035" y="15749842"/>
            <a:ext cx="8477550" cy="6806550"/>
            <a:chOff x="0" y="0"/>
            <a:chExt cx="11303400" cy="9075400"/>
          </a:xfrm>
        </p:grpSpPr>
        <p:sp>
          <p:nvSpPr>
            <p:cNvPr id="186" name="Freeform 186"/>
            <p:cNvSpPr/>
            <p:nvPr/>
          </p:nvSpPr>
          <p:spPr>
            <a:xfrm>
              <a:off x="9878030" y="4884169"/>
              <a:ext cx="396536" cy="396536"/>
            </a:xfrm>
            <a:custGeom>
              <a:avLst/>
              <a:gdLst/>
              <a:ahLst/>
              <a:cxnLst/>
              <a:rect l="l" t="t" r="r" b="b"/>
              <a:pathLst>
                <a:path w="396536" h="396536">
                  <a:moveTo>
                    <a:pt x="0" y="0"/>
                  </a:moveTo>
                  <a:lnTo>
                    <a:pt x="396535" y="0"/>
                  </a:lnTo>
                  <a:lnTo>
                    <a:pt x="396535" y="396535"/>
                  </a:lnTo>
                  <a:lnTo>
                    <a:pt x="0" y="39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7" name="Group 187"/>
            <p:cNvGrpSpPr>
              <a:grpSpLocks noChangeAspect="1"/>
            </p:cNvGrpSpPr>
            <p:nvPr/>
          </p:nvGrpSpPr>
          <p:grpSpPr>
            <a:xfrm>
              <a:off x="0" y="0"/>
              <a:ext cx="11303400" cy="9075400"/>
              <a:chOff x="0" y="0"/>
              <a:chExt cx="7467600" cy="599567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7467600" cy="4513580"/>
              </a:xfrm>
              <a:custGeom>
                <a:avLst/>
                <a:gdLst/>
                <a:ahLst/>
                <a:cxnLst/>
                <a:rect l="l" t="t" r="r" b="b"/>
                <a:pathLst>
                  <a:path w="7467600" h="4513580">
                    <a:moveTo>
                      <a:pt x="7127240" y="0"/>
                    </a:moveTo>
                    <a:lnTo>
                      <a:pt x="340360" y="0"/>
                    </a:lnTo>
                    <a:cubicBezTo>
                      <a:pt x="152400" y="0"/>
                      <a:pt x="0" y="152400"/>
                      <a:pt x="0" y="340360"/>
                    </a:cubicBezTo>
                    <a:lnTo>
                      <a:pt x="0" y="4513580"/>
                    </a:lnTo>
                    <a:lnTo>
                      <a:pt x="7467600" y="4513580"/>
                    </a:lnTo>
                    <a:lnTo>
                      <a:pt x="7467600" y="340360"/>
                    </a:lnTo>
                    <a:cubicBezTo>
                      <a:pt x="7467600" y="152400"/>
                      <a:pt x="7315200" y="0"/>
                      <a:pt x="7127240" y="0"/>
                    </a:cubicBezTo>
                    <a:close/>
                    <a:moveTo>
                      <a:pt x="7142480" y="4188460"/>
                    </a:moveTo>
                    <a:lnTo>
                      <a:pt x="314961" y="4188460"/>
                    </a:lnTo>
                    <a:lnTo>
                      <a:pt x="314961" y="353060"/>
                    </a:lnTo>
                    <a:lnTo>
                      <a:pt x="7142480" y="353060"/>
                    </a:lnTo>
                    <a:lnTo>
                      <a:pt x="7142480" y="41884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9" name="Freeform 189"/>
              <p:cNvSpPr/>
              <p:nvPr/>
            </p:nvSpPr>
            <p:spPr>
              <a:xfrm>
                <a:off x="0" y="4514850"/>
                <a:ext cx="7467600" cy="695960"/>
              </a:xfrm>
              <a:custGeom>
                <a:avLst/>
                <a:gdLst/>
                <a:ahLst/>
                <a:cxnLst/>
                <a:rect l="l" t="t" r="r" b="b"/>
                <a:pathLst>
                  <a:path w="7467600" h="695960">
                    <a:moveTo>
                      <a:pt x="0" y="355600"/>
                    </a:moveTo>
                    <a:cubicBezTo>
                      <a:pt x="0" y="543560"/>
                      <a:pt x="152400" y="695960"/>
                      <a:pt x="340360" y="695960"/>
                    </a:cubicBezTo>
                    <a:lnTo>
                      <a:pt x="7127240" y="695960"/>
                    </a:lnTo>
                    <a:cubicBezTo>
                      <a:pt x="7315200" y="695960"/>
                      <a:pt x="7467600" y="543560"/>
                      <a:pt x="7467600" y="355600"/>
                    </a:cubicBezTo>
                    <a:lnTo>
                      <a:pt x="7467600" y="0"/>
                    </a:lnTo>
                    <a:lnTo>
                      <a:pt x="0" y="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BBBBBB"/>
              </a:solidFill>
            </p:spPr>
          </p:sp>
          <p:sp>
            <p:nvSpPr>
              <p:cNvPr id="190" name="Freeform 190"/>
              <p:cNvSpPr/>
              <p:nvPr/>
            </p:nvSpPr>
            <p:spPr>
              <a:xfrm>
                <a:off x="2429510" y="5210810"/>
                <a:ext cx="2606040" cy="791210"/>
              </a:xfrm>
              <a:custGeom>
                <a:avLst/>
                <a:gdLst/>
                <a:ahLst/>
                <a:cxnLst/>
                <a:rect l="l" t="t" r="r" b="b"/>
                <a:pathLst>
                  <a:path w="2606040" h="791210">
                    <a:moveTo>
                      <a:pt x="1258570" y="0"/>
                    </a:moveTo>
                    <a:lnTo>
                      <a:pt x="453390" y="0"/>
                    </a:lnTo>
                    <a:cubicBezTo>
                      <a:pt x="453390" y="0"/>
                      <a:pt x="429260" y="370840"/>
                      <a:pt x="403860" y="525780"/>
                    </a:cubicBezTo>
                    <a:cubicBezTo>
                      <a:pt x="359410" y="791210"/>
                      <a:pt x="87630" y="706120"/>
                      <a:pt x="10160" y="762000"/>
                    </a:cubicBezTo>
                    <a:cubicBezTo>
                      <a:pt x="0" y="769620"/>
                      <a:pt x="5080" y="786130"/>
                      <a:pt x="17780" y="786130"/>
                    </a:cubicBezTo>
                    <a:lnTo>
                      <a:pt x="2588260" y="786130"/>
                    </a:lnTo>
                    <a:cubicBezTo>
                      <a:pt x="2600960" y="786130"/>
                      <a:pt x="2606040" y="769620"/>
                      <a:pt x="2595880" y="762000"/>
                    </a:cubicBezTo>
                    <a:cubicBezTo>
                      <a:pt x="2518410" y="706120"/>
                      <a:pt x="2246630" y="791210"/>
                      <a:pt x="2202180" y="525780"/>
                    </a:cubicBezTo>
                    <a:cubicBezTo>
                      <a:pt x="2176780" y="370840"/>
                      <a:pt x="2152650" y="0"/>
                      <a:pt x="2152650" y="0"/>
                    </a:cubicBezTo>
                    <a:lnTo>
                      <a:pt x="1258570" y="0"/>
                    </a:lnTo>
                    <a:close/>
                  </a:path>
                </a:pathLst>
              </a:custGeom>
              <a:solidFill>
                <a:srgbClr val="BBBBBB"/>
              </a:solidFill>
            </p:spPr>
          </p:sp>
          <p:sp>
            <p:nvSpPr>
              <p:cNvPr id="191" name="Freeform 191"/>
              <p:cNvSpPr/>
              <p:nvPr/>
            </p:nvSpPr>
            <p:spPr>
              <a:xfrm>
                <a:off x="314960" y="353060"/>
                <a:ext cx="6827520" cy="3835400"/>
              </a:xfrm>
              <a:custGeom>
                <a:avLst/>
                <a:gdLst/>
                <a:ahLst/>
                <a:cxnLst/>
                <a:rect l="l" t="t" r="r" b="b"/>
                <a:pathLst>
                  <a:path w="6827520" h="383540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3835400"/>
                    </a:lnTo>
                    <a:lnTo>
                      <a:pt x="0" y="3835400"/>
                    </a:lnTo>
                    <a:close/>
                  </a:path>
                </a:pathLst>
              </a:custGeom>
              <a:blipFill>
                <a:blip r:embed="rId17"/>
                <a:stretch>
                  <a:fillRect t="-39006" b="-39006"/>
                </a:stretch>
              </a:blipFill>
            </p:spPr>
          </p:sp>
        </p:grpSp>
        <p:grpSp>
          <p:nvGrpSpPr>
            <p:cNvPr id="192" name="Group 192"/>
            <p:cNvGrpSpPr/>
            <p:nvPr/>
          </p:nvGrpSpPr>
          <p:grpSpPr>
            <a:xfrm>
              <a:off x="2413354" y="1150996"/>
              <a:ext cx="6476691" cy="4469161"/>
              <a:chOff x="0" y="0"/>
              <a:chExt cx="2310193" cy="1594120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0" y="0"/>
                <a:ext cx="2310193" cy="1594120"/>
              </a:xfrm>
              <a:custGeom>
                <a:avLst/>
                <a:gdLst/>
                <a:ahLst/>
                <a:cxnLst/>
                <a:rect l="l" t="t" r="r" b="b"/>
                <a:pathLst>
                  <a:path w="2310193" h="1594120">
                    <a:moveTo>
                      <a:pt x="24962" y="0"/>
                    </a:moveTo>
                    <a:lnTo>
                      <a:pt x="2285231" y="0"/>
                    </a:lnTo>
                    <a:cubicBezTo>
                      <a:pt x="2299017" y="0"/>
                      <a:pt x="2310193" y="11176"/>
                      <a:pt x="2310193" y="24962"/>
                    </a:cubicBezTo>
                    <a:lnTo>
                      <a:pt x="2310193" y="1569158"/>
                    </a:lnTo>
                    <a:cubicBezTo>
                      <a:pt x="2310193" y="1575779"/>
                      <a:pt x="2307563" y="1582128"/>
                      <a:pt x="2302882" y="1586809"/>
                    </a:cubicBezTo>
                    <a:cubicBezTo>
                      <a:pt x="2298200" y="1591490"/>
                      <a:pt x="2291851" y="1594120"/>
                      <a:pt x="2285231" y="1594120"/>
                    </a:cubicBezTo>
                    <a:lnTo>
                      <a:pt x="24962" y="1594120"/>
                    </a:lnTo>
                    <a:cubicBezTo>
                      <a:pt x="18342" y="1594120"/>
                      <a:pt x="11992" y="1591490"/>
                      <a:pt x="7311" y="1586809"/>
                    </a:cubicBezTo>
                    <a:cubicBezTo>
                      <a:pt x="2630" y="1582128"/>
                      <a:pt x="0" y="1575779"/>
                      <a:pt x="0" y="1569158"/>
                    </a:cubicBezTo>
                    <a:lnTo>
                      <a:pt x="0" y="24962"/>
                    </a:lnTo>
                    <a:cubicBezTo>
                      <a:pt x="0" y="18342"/>
                      <a:pt x="2630" y="11992"/>
                      <a:pt x="7311" y="7311"/>
                    </a:cubicBezTo>
                    <a:cubicBezTo>
                      <a:pt x="11992" y="2630"/>
                      <a:pt x="18342" y="0"/>
                      <a:pt x="24962" y="0"/>
                    </a:cubicBezTo>
                    <a:close/>
                  </a:path>
                </a:pathLst>
              </a:custGeom>
              <a:solidFill>
                <a:srgbClr val="294A5B">
                  <a:alpha val="88627"/>
                </a:srgbClr>
              </a:solidFill>
              <a:ln w="19050" cap="rnd">
                <a:solidFill>
                  <a:srgbClr val="FFFFFF">
                    <a:alpha val="88627"/>
                  </a:srgbClr>
                </a:solidFill>
                <a:prstDash val="dash"/>
                <a:round/>
              </a:ln>
            </p:spPr>
          </p:sp>
          <p:sp>
            <p:nvSpPr>
              <p:cNvPr id="194" name="TextBox 194"/>
              <p:cNvSpPr txBox="1"/>
              <p:nvPr/>
            </p:nvSpPr>
            <p:spPr>
              <a:xfrm>
                <a:off x="0" y="-38100"/>
                <a:ext cx="2310193" cy="1632220"/>
              </a:xfrm>
              <a:prstGeom prst="rect">
                <a:avLst/>
              </a:prstGeom>
            </p:spPr>
            <p:txBody>
              <a:bodyPr lIns="57446" tIns="57446" rIns="57446" bIns="5744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95" name="Group 195"/>
            <p:cNvGrpSpPr/>
            <p:nvPr/>
          </p:nvGrpSpPr>
          <p:grpSpPr>
            <a:xfrm>
              <a:off x="2641726" y="3017033"/>
              <a:ext cx="1391713" cy="1391713"/>
              <a:chOff x="0" y="0"/>
              <a:chExt cx="812800" cy="812800"/>
            </a:xfrm>
          </p:grpSpPr>
          <p:sp>
            <p:nvSpPr>
              <p:cNvPr id="196" name="Freeform 1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36797" y="0"/>
                    </a:moveTo>
                    <a:lnTo>
                      <a:pt x="676003" y="0"/>
                    </a:lnTo>
                    <a:cubicBezTo>
                      <a:pt x="751554" y="0"/>
                      <a:pt x="812800" y="61246"/>
                      <a:pt x="812800" y="136797"/>
                    </a:cubicBezTo>
                    <a:lnTo>
                      <a:pt x="812800" y="676003"/>
                    </a:lnTo>
                    <a:cubicBezTo>
                      <a:pt x="812800" y="751554"/>
                      <a:pt x="751554" y="812800"/>
                      <a:pt x="676003" y="812800"/>
                    </a:cubicBezTo>
                    <a:lnTo>
                      <a:pt x="136797" y="812800"/>
                    </a:lnTo>
                    <a:cubicBezTo>
                      <a:pt x="61246" y="812800"/>
                      <a:pt x="0" y="751554"/>
                      <a:pt x="0" y="676003"/>
                    </a:cubicBezTo>
                    <a:lnTo>
                      <a:pt x="0" y="136797"/>
                    </a:lnTo>
                    <a:cubicBezTo>
                      <a:pt x="0" y="61246"/>
                      <a:pt x="61246" y="0"/>
                      <a:pt x="136797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 t="-38888" b="-38888"/>
                </a:stretch>
              </a:blipFill>
            </p:spPr>
          </p:sp>
        </p:grpSp>
        <p:grpSp>
          <p:nvGrpSpPr>
            <p:cNvPr id="197" name="Group 197"/>
            <p:cNvGrpSpPr/>
            <p:nvPr/>
          </p:nvGrpSpPr>
          <p:grpSpPr>
            <a:xfrm>
              <a:off x="718025" y="5891545"/>
              <a:ext cx="1221868" cy="281106"/>
              <a:chOff x="0" y="0"/>
              <a:chExt cx="300986" cy="69246"/>
            </a:xfrm>
          </p:grpSpPr>
          <p:sp>
            <p:nvSpPr>
              <p:cNvPr id="198" name="Freeform 198"/>
              <p:cNvSpPr/>
              <p:nvPr/>
            </p:nvSpPr>
            <p:spPr>
              <a:xfrm>
                <a:off x="0" y="0"/>
                <a:ext cx="300986" cy="69246"/>
              </a:xfrm>
              <a:custGeom>
                <a:avLst/>
                <a:gdLst/>
                <a:ahLst/>
                <a:cxnLst/>
                <a:rect l="l" t="t" r="r" b="b"/>
                <a:pathLst>
                  <a:path w="300986" h="69246">
                    <a:moveTo>
                      <a:pt x="34623" y="0"/>
                    </a:moveTo>
                    <a:lnTo>
                      <a:pt x="266363" y="0"/>
                    </a:lnTo>
                    <a:cubicBezTo>
                      <a:pt x="275546" y="0"/>
                      <a:pt x="284352" y="3648"/>
                      <a:pt x="290846" y="10141"/>
                    </a:cubicBezTo>
                    <a:cubicBezTo>
                      <a:pt x="297339" y="16634"/>
                      <a:pt x="300986" y="25440"/>
                      <a:pt x="300986" y="34623"/>
                    </a:cubicBezTo>
                    <a:lnTo>
                      <a:pt x="300986" y="34623"/>
                    </a:lnTo>
                    <a:cubicBezTo>
                      <a:pt x="300986" y="53744"/>
                      <a:pt x="285485" y="69246"/>
                      <a:pt x="266363" y="69246"/>
                    </a:cubicBezTo>
                    <a:lnTo>
                      <a:pt x="34623" y="69246"/>
                    </a:lnTo>
                    <a:cubicBezTo>
                      <a:pt x="15501" y="69246"/>
                      <a:pt x="0" y="53744"/>
                      <a:pt x="0" y="34623"/>
                    </a:cubicBezTo>
                    <a:lnTo>
                      <a:pt x="0" y="34623"/>
                    </a:lnTo>
                    <a:cubicBezTo>
                      <a:pt x="0" y="15501"/>
                      <a:pt x="15501" y="0"/>
                      <a:pt x="34623" y="0"/>
                    </a:cubicBezTo>
                    <a:close/>
                  </a:path>
                </a:pathLst>
              </a:custGeom>
              <a:solidFill>
                <a:srgbClr val="CAA24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99" name="TextBox 199"/>
              <p:cNvSpPr txBox="1"/>
              <p:nvPr/>
            </p:nvSpPr>
            <p:spPr>
              <a:xfrm>
                <a:off x="0" y="-47625"/>
                <a:ext cx="300986" cy="116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6"/>
                  </a:lnSpc>
                </a:pPr>
                <a:endParaRPr/>
              </a:p>
            </p:txBody>
          </p:sp>
        </p:grpSp>
        <p:sp>
          <p:nvSpPr>
            <p:cNvPr id="200" name="TextBox 200"/>
            <p:cNvSpPr txBox="1"/>
            <p:nvPr/>
          </p:nvSpPr>
          <p:spPr>
            <a:xfrm>
              <a:off x="778414" y="5961666"/>
              <a:ext cx="1101090" cy="150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6"/>
                </a:lnSpc>
              </a:pPr>
              <a:r>
                <a:rPr lang="en-US" sz="800" spc="56">
                  <a:solidFill>
                    <a:srgbClr val="FFFFFF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EXIT</a:t>
              </a:r>
            </a:p>
          </p:txBody>
        </p:sp>
        <p:sp>
          <p:nvSpPr>
            <p:cNvPr id="201" name="Freeform 201"/>
            <p:cNvSpPr/>
            <p:nvPr/>
          </p:nvSpPr>
          <p:spPr>
            <a:xfrm>
              <a:off x="2641726" y="5112877"/>
              <a:ext cx="172533" cy="167828"/>
            </a:xfrm>
            <a:custGeom>
              <a:avLst/>
              <a:gdLst/>
              <a:ahLst/>
              <a:cxnLst/>
              <a:rect l="l" t="t" r="r" b="b"/>
              <a:pathLst>
                <a:path w="172533" h="167828">
                  <a:moveTo>
                    <a:pt x="0" y="0"/>
                  </a:moveTo>
                  <a:lnTo>
                    <a:pt x="172534" y="0"/>
                  </a:lnTo>
                  <a:lnTo>
                    <a:pt x="172534" y="167827"/>
                  </a:lnTo>
                  <a:lnTo>
                    <a:pt x="0" y="16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2" name="TextBox 202"/>
            <p:cNvSpPr txBox="1"/>
            <p:nvPr/>
          </p:nvSpPr>
          <p:spPr>
            <a:xfrm>
              <a:off x="2176624" y="1776751"/>
              <a:ext cx="6950153" cy="333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8"/>
                </a:lnSpc>
              </a:pPr>
              <a:r>
                <a:rPr lang="en-US" sz="1813" spc="126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DICA DE CUPOM REAL!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277265" y="2557694"/>
              <a:ext cx="3688552" cy="2206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71"/>
                </a:lnSpc>
              </a:pPr>
              <a:r>
                <a:rPr lang="en-US" sz="838" spc="58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O bairro da Liberdade, em São Paulo, é um dos lugares mais marcantes da cidade. Conhecido por sua forte influência da cultura japonesa — e também chinesa e coreana —, ele é um verdadeiro pedaço da Ásia no Brasil. As ruas são decoradas com luminárias vermelhas, e o aroma de comida oriental se espalha pelos mercados e restaurantes. </a:t>
              </a:r>
            </a:p>
            <a:p>
              <a:pPr algn="l">
                <a:lnSpc>
                  <a:spcPts val="771"/>
                </a:lnSpc>
              </a:pPr>
              <a:endParaRPr lang="en-US" sz="838" spc="58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endParaRPr>
            </a:p>
            <a:p>
              <a:pPr algn="l">
                <a:lnSpc>
                  <a:spcPts val="771"/>
                </a:lnSpc>
              </a:pPr>
              <a:r>
                <a:rPr lang="en-US" sz="838" spc="58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Aos finais de semana, a feira da Liberdade atrai visitantes de todas as partes, com barracas de artesanato, doces típicos e comidas tradicionais. Além disso, o bairro é um símbolo de convivência entre culturas e de preservação das tradições dos imigrantes que ajudaram a formar a identidade paulistana.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2786112" y="5201508"/>
              <a:ext cx="1102941" cy="79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9"/>
                </a:lnSpc>
              </a:pPr>
              <a:r>
                <a:rPr lang="en-US" sz="390" spc="27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PRAÇA DA LIBERDADE </a:t>
              </a:r>
            </a:p>
          </p:txBody>
        </p:sp>
      </p:grpSp>
      <p:grpSp>
        <p:nvGrpSpPr>
          <p:cNvPr id="205" name="Group 205"/>
          <p:cNvGrpSpPr>
            <a:grpSpLocks noChangeAspect="1"/>
          </p:cNvGrpSpPr>
          <p:nvPr/>
        </p:nvGrpSpPr>
        <p:grpSpPr>
          <a:xfrm>
            <a:off x="16498035" y="23969004"/>
            <a:ext cx="8495523" cy="6820980"/>
            <a:chOff x="0" y="0"/>
            <a:chExt cx="7467600" cy="5995670"/>
          </a:xfrm>
        </p:grpSpPr>
        <p:sp>
          <p:nvSpPr>
            <p:cNvPr id="206" name="Freeform 20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" name="Freeform 20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208" name="Freeform 208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209" name="Freeform 20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3"/>
              <a:stretch>
                <a:fillRect t="-39006" b="-39006"/>
              </a:stretch>
            </a:blipFill>
          </p:spPr>
        </p:sp>
      </p:grpSp>
      <p:sp>
        <p:nvSpPr>
          <p:cNvPr id="210" name="Freeform 210"/>
          <p:cNvSpPr/>
          <p:nvPr/>
        </p:nvSpPr>
        <p:spPr>
          <a:xfrm>
            <a:off x="23697987" y="22767144"/>
            <a:ext cx="287460" cy="287460"/>
          </a:xfrm>
          <a:custGeom>
            <a:avLst/>
            <a:gdLst/>
            <a:ahLst/>
            <a:cxnLst/>
            <a:rect l="l" t="t" r="r" b="b"/>
            <a:pathLst>
              <a:path w="287460" h="287460">
                <a:moveTo>
                  <a:pt x="0" y="0"/>
                </a:moveTo>
                <a:lnTo>
                  <a:pt x="287459" y="0"/>
                </a:lnTo>
                <a:lnTo>
                  <a:pt x="287459" y="287460"/>
                </a:lnTo>
                <a:lnTo>
                  <a:pt x="0" y="28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11" name="Group 211"/>
          <p:cNvGrpSpPr/>
          <p:nvPr/>
        </p:nvGrpSpPr>
        <p:grpSpPr>
          <a:xfrm>
            <a:off x="18049986" y="25066983"/>
            <a:ext cx="5818858" cy="3035674"/>
            <a:chOff x="0" y="0"/>
            <a:chExt cx="3055650" cy="1594120"/>
          </a:xfrm>
        </p:grpSpPr>
        <p:sp>
          <p:nvSpPr>
            <p:cNvPr id="212" name="Freeform 212"/>
            <p:cNvSpPr/>
            <p:nvPr/>
          </p:nvSpPr>
          <p:spPr>
            <a:xfrm>
              <a:off x="0" y="0"/>
              <a:ext cx="3055650" cy="1594120"/>
            </a:xfrm>
            <a:custGeom>
              <a:avLst/>
              <a:gdLst/>
              <a:ahLst/>
              <a:cxnLst/>
              <a:rect l="l" t="t" r="r" b="b"/>
              <a:pathLst>
                <a:path w="3055650" h="1594120">
                  <a:moveTo>
                    <a:pt x="25986" y="0"/>
                  </a:moveTo>
                  <a:lnTo>
                    <a:pt x="3029664" y="0"/>
                  </a:lnTo>
                  <a:cubicBezTo>
                    <a:pt x="3036556" y="0"/>
                    <a:pt x="3043165" y="2738"/>
                    <a:pt x="3048039" y="7611"/>
                  </a:cubicBezTo>
                  <a:cubicBezTo>
                    <a:pt x="3052912" y="12484"/>
                    <a:pt x="3055650" y="19094"/>
                    <a:pt x="3055650" y="25986"/>
                  </a:cubicBezTo>
                  <a:lnTo>
                    <a:pt x="3055650" y="1568134"/>
                  </a:lnTo>
                  <a:cubicBezTo>
                    <a:pt x="3055650" y="1582486"/>
                    <a:pt x="3044015" y="1594120"/>
                    <a:pt x="3029664" y="1594120"/>
                  </a:cubicBezTo>
                  <a:lnTo>
                    <a:pt x="25986" y="1594120"/>
                  </a:lnTo>
                  <a:cubicBezTo>
                    <a:pt x="19094" y="1594120"/>
                    <a:pt x="12484" y="1591382"/>
                    <a:pt x="7611" y="1586509"/>
                  </a:cubicBezTo>
                  <a:cubicBezTo>
                    <a:pt x="2738" y="1581636"/>
                    <a:pt x="0" y="1575026"/>
                    <a:pt x="0" y="1568134"/>
                  </a:cubicBezTo>
                  <a:lnTo>
                    <a:pt x="0" y="25986"/>
                  </a:lnTo>
                  <a:cubicBezTo>
                    <a:pt x="0" y="19094"/>
                    <a:pt x="2738" y="12484"/>
                    <a:pt x="7611" y="7611"/>
                  </a:cubicBezTo>
                  <a:cubicBezTo>
                    <a:pt x="12484" y="2738"/>
                    <a:pt x="19094" y="0"/>
                    <a:pt x="25986" y="0"/>
                  </a:cubicBezTo>
                  <a:close/>
                </a:path>
              </a:pathLst>
            </a:custGeom>
            <a:solidFill>
              <a:srgbClr val="294A5B">
                <a:alpha val="69804"/>
              </a:srgbClr>
            </a:solidFill>
            <a:ln w="19050" cap="rnd">
              <a:solidFill>
                <a:srgbClr val="FFFFFF">
                  <a:alpha val="69804"/>
                </a:srgbClr>
              </a:solidFill>
              <a:prstDash val="dash"/>
              <a:round/>
            </a:ln>
          </p:spPr>
        </p:sp>
        <p:sp>
          <p:nvSpPr>
            <p:cNvPr id="213" name="TextBox 213"/>
            <p:cNvSpPr txBox="1"/>
            <p:nvPr/>
          </p:nvSpPr>
          <p:spPr>
            <a:xfrm>
              <a:off x="0" y="-38100"/>
              <a:ext cx="3055650" cy="1632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4" name="Freeform 214"/>
          <p:cNvSpPr/>
          <p:nvPr/>
        </p:nvSpPr>
        <p:spPr>
          <a:xfrm>
            <a:off x="21564470" y="26175617"/>
            <a:ext cx="482446" cy="282450"/>
          </a:xfrm>
          <a:custGeom>
            <a:avLst/>
            <a:gdLst/>
            <a:ahLst/>
            <a:cxnLst/>
            <a:rect l="l" t="t" r="r" b="b"/>
            <a:pathLst>
              <a:path w="482446" h="282450">
                <a:moveTo>
                  <a:pt x="0" y="0"/>
                </a:moveTo>
                <a:lnTo>
                  <a:pt x="482445" y="0"/>
                </a:lnTo>
                <a:lnTo>
                  <a:pt x="482445" y="282450"/>
                </a:lnTo>
                <a:lnTo>
                  <a:pt x="0" y="2824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15" name="AutoShape 215"/>
          <p:cNvSpPr/>
          <p:nvPr/>
        </p:nvSpPr>
        <p:spPr>
          <a:xfrm flipH="1" flipV="1">
            <a:off x="20959415" y="26020638"/>
            <a:ext cx="4762" cy="1754289"/>
          </a:xfrm>
          <a:prstGeom prst="line">
            <a:avLst/>
          </a:prstGeom>
          <a:ln w="952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16" name="Freeform 216"/>
          <p:cNvSpPr/>
          <p:nvPr/>
        </p:nvSpPr>
        <p:spPr>
          <a:xfrm>
            <a:off x="21564470" y="26777208"/>
            <a:ext cx="482446" cy="282450"/>
          </a:xfrm>
          <a:custGeom>
            <a:avLst/>
            <a:gdLst/>
            <a:ahLst/>
            <a:cxnLst/>
            <a:rect l="l" t="t" r="r" b="b"/>
            <a:pathLst>
              <a:path w="482446" h="282450">
                <a:moveTo>
                  <a:pt x="0" y="0"/>
                </a:moveTo>
                <a:lnTo>
                  <a:pt x="482445" y="0"/>
                </a:lnTo>
                <a:lnTo>
                  <a:pt x="482445" y="282450"/>
                </a:lnTo>
                <a:lnTo>
                  <a:pt x="0" y="2824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17" name="Freeform 217"/>
          <p:cNvSpPr/>
          <p:nvPr/>
        </p:nvSpPr>
        <p:spPr>
          <a:xfrm>
            <a:off x="21564470" y="27353534"/>
            <a:ext cx="482446" cy="282450"/>
          </a:xfrm>
          <a:custGeom>
            <a:avLst/>
            <a:gdLst/>
            <a:ahLst/>
            <a:cxnLst/>
            <a:rect l="l" t="t" r="r" b="b"/>
            <a:pathLst>
              <a:path w="482446" h="282450">
                <a:moveTo>
                  <a:pt x="0" y="0"/>
                </a:moveTo>
                <a:lnTo>
                  <a:pt x="482445" y="0"/>
                </a:lnTo>
                <a:lnTo>
                  <a:pt x="482445" y="282451"/>
                </a:lnTo>
                <a:lnTo>
                  <a:pt x="0" y="2824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218" name="Group 218"/>
          <p:cNvGrpSpPr/>
          <p:nvPr/>
        </p:nvGrpSpPr>
        <p:grpSpPr>
          <a:xfrm>
            <a:off x="17099496" y="28377369"/>
            <a:ext cx="885766" cy="203782"/>
            <a:chOff x="0" y="0"/>
            <a:chExt cx="300986" cy="69246"/>
          </a:xfrm>
        </p:grpSpPr>
        <p:sp>
          <p:nvSpPr>
            <p:cNvPr id="219" name="Freeform 219"/>
            <p:cNvSpPr/>
            <p:nvPr/>
          </p:nvSpPr>
          <p:spPr>
            <a:xfrm>
              <a:off x="0" y="0"/>
              <a:ext cx="300986" cy="69246"/>
            </a:xfrm>
            <a:custGeom>
              <a:avLst/>
              <a:gdLst/>
              <a:ahLst/>
              <a:cxnLst/>
              <a:rect l="l" t="t" r="r" b="b"/>
              <a:pathLst>
                <a:path w="300986" h="6924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CAA244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0" name="TextBox 220"/>
            <p:cNvSpPr txBox="1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lIns="44923" tIns="44923" rIns="44923" bIns="44923" rtlCol="0" anchor="ctr"/>
            <a:lstStyle/>
            <a:p>
              <a:pPr algn="ctr">
                <a:lnSpc>
                  <a:spcPts val="3006"/>
                </a:lnSpc>
              </a:pPr>
              <a:endParaRPr/>
            </a:p>
          </p:txBody>
        </p:sp>
      </p:grpSp>
      <p:sp>
        <p:nvSpPr>
          <p:cNvPr id="221" name="Freeform 221"/>
          <p:cNvSpPr/>
          <p:nvPr/>
        </p:nvSpPr>
        <p:spPr>
          <a:xfrm>
            <a:off x="14929701" y="12070364"/>
            <a:ext cx="2612678" cy="2612678"/>
          </a:xfrm>
          <a:custGeom>
            <a:avLst/>
            <a:gdLst/>
            <a:ahLst/>
            <a:cxnLst/>
            <a:rect l="l" t="t" r="r" b="b"/>
            <a:pathLst>
              <a:path w="2612678" h="2612678">
                <a:moveTo>
                  <a:pt x="0" y="0"/>
                </a:moveTo>
                <a:lnTo>
                  <a:pt x="2612678" y="0"/>
                </a:lnTo>
                <a:lnTo>
                  <a:pt x="2612678" y="2612678"/>
                </a:lnTo>
                <a:lnTo>
                  <a:pt x="0" y="261267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22" name="TextBox 222"/>
          <p:cNvSpPr txBox="1"/>
          <p:nvPr/>
        </p:nvSpPr>
        <p:spPr>
          <a:xfrm>
            <a:off x="781962" y="5009449"/>
            <a:ext cx="13101971" cy="382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Sobre a equipe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Para garantir a integração homogênea do código e evitar erros futuros, nosso grupo dividiu as responsabilidades do projeto. José ficou encarregado da codificação das telas do jogo, da validação das letras e da mecânica de cupons para o jogador. Luiza assumiu a documentação do projeto e a codificação das telas de dicas, tela principal e login. Bruno cuidou de toda a parte do banco de dados, incluindo a estruturação e a modelagem conceitual e lógica. Maria contribuiu com o design e a implantação dos modelos visuais nas telas do Windows Forms. Todos os membros tiveram participação ativa e colaboraram nas tarefas uns dos outros, assegurando um entendimento completo do funcionamento integrado do projeto.</a:t>
            </a:r>
          </a:p>
          <a:p>
            <a:pPr algn="just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TextBox 223"/>
          <p:cNvSpPr txBox="1"/>
          <p:nvPr/>
        </p:nvSpPr>
        <p:spPr>
          <a:xfrm>
            <a:off x="14744594" y="5009450"/>
            <a:ext cx="13101971" cy="42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Problema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 ser </a:t>
            </a: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tratado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experiência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interativa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úsuario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recebe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 insights sobre os tipos e localizações prováveis de cupons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Além disso, um dos principais requisitos é que seja educativa, estimulando sempre o raciocínio. A proposta deve ser adequada para todas as idades e incluir cupons e dicas de lugares onde os participantes possam aprender mais ou encontrar novas experiências relacionadas ao tema. A ideia central é incentivar o aprendizado de forma leve, interativa e recompensadora, transformando atividades que normalmente são vistas como obrigatórias ou desinteressantes em desafios instigantes e cheios de significado.</a:t>
            </a:r>
          </a:p>
          <a:p>
            <a:pPr algn="just">
              <a:lnSpc>
                <a:spcPts val="2879"/>
              </a:lnSpc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2879"/>
              </a:lnSpc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199"/>
              </a:lnSpc>
            </a:pPr>
            <a:r>
              <a:rPr lang="en-US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721793" y="33560563"/>
            <a:ext cx="13136030" cy="313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Solução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proposta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2879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PicWords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surge como uma solução inovadora para um problema comum, a falta de incentivo para aprender de forma divertida e interativa. A gamificação do jogo mistura conhecimentos históricos e matemáticos em um formato de cruzadinha, proporcionando aos jogadores uma experiência envolvente enquanto exercitam suas mentes. A cada nível superado, o jogador se depara com novos desafios, o que mantém o jogo sempre dinâmico e interessante. Além disso, o principal atrativo segue sendo os cupons e as dicas alcançados ao longo da jornada.</a:t>
            </a: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25" name="TextBox 225"/>
          <p:cNvSpPr txBox="1"/>
          <p:nvPr/>
        </p:nvSpPr>
        <p:spPr>
          <a:xfrm>
            <a:off x="14738224" y="33560563"/>
            <a:ext cx="13136030" cy="491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Futuro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do </a:t>
            </a: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projeto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287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 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gamificação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usuários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beneficiarem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meio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cupons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 forma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divertida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competitiva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Por se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tratar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um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universitário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foi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monetários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seja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há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necessidade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incentivos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financeiros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jogo.O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principal é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divertir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meio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gamificada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jogo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simples,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capaz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entretenimento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aprendizado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 para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pessoas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idades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pretendemos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expandir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jogo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outras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desktop 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levando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-o para a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nuvem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dispositivos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móveis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entre outros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ambientes.Para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seja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possível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é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necessário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compreender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escalabilidade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jogo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novas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possam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implementadas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garantindo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crescimento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contínuo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sempre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respeitando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liberdade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criativa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desenvolvedores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a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opinião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usuários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>
              <a:lnSpc>
                <a:spcPts val="2879"/>
              </a:lnSpc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TextBox 226"/>
          <p:cNvSpPr txBox="1"/>
          <p:nvPr/>
        </p:nvSpPr>
        <p:spPr>
          <a:xfrm>
            <a:off x="8050871" y="11004610"/>
            <a:ext cx="12685939" cy="150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86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Imagens e ferramentas do Projeto</a:t>
            </a:r>
          </a:p>
          <a:p>
            <a:pPr algn="just">
              <a:lnSpc>
                <a:spcPts val="4479"/>
              </a:lnSpc>
            </a:pPr>
            <a:r>
              <a:rPr lang="en-US" sz="37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8159867" y="25394421"/>
            <a:ext cx="2691322" cy="36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2629" spc="18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RANKING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20937672" y="25394421"/>
            <a:ext cx="2691322" cy="36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2629" spc="18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CUPONS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17143274" y="28421297"/>
            <a:ext cx="798211" cy="11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"/>
              </a:lnSpc>
            </a:pPr>
            <a:r>
              <a:rPr lang="en-US" sz="773" spc="54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18159867" y="26237381"/>
            <a:ext cx="2691322" cy="17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JOGADOR 1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18159867" y="26827751"/>
            <a:ext cx="2691322" cy="17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JOGADOR 2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8159867" y="27415298"/>
            <a:ext cx="2691322" cy="17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JOGADOR 3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21073715" y="26237381"/>
            <a:ext cx="2691322" cy="17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60%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21073715" y="27415298"/>
            <a:ext cx="2691322" cy="17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10%</a:t>
            </a:r>
          </a:p>
        </p:txBody>
      </p:sp>
      <p:grpSp>
        <p:nvGrpSpPr>
          <p:cNvPr id="235" name="Group 235"/>
          <p:cNvGrpSpPr/>
          <p:nvPr/>
        </p:nvGrpSpPr>
        <p:grpSpPr>
          <a:xfrm>
            <a:off x="7113383" y="21207506"/>
            <a:ext cx="1247733" cy="410139"/>
            <a:chOff x="0" y="0"/>
            <a:chExt cx="1274994" cy="419100"/>
          </a:xfrm>
        </p:grpSpPr>
        <p:sp>
          <p:nvSpPr>
            <p:cNvPr id="236" name="Freeform 236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7" name="TextBox 237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640" tIns="45640" rIns="45640" bIns="456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38" name="Group 238"/>
          <p:cNvGrpSpPr/>
          <p:nvPr/>
        </p:nvGrpSpPr>
        <p:grpSpPr>
          <a:xfrm>
            <a:off x="7113383" y="21730701"/>
            <a:ext cx="1247733" cy="410139"/>
            <a:chOff x="0" y="0"/>
            <a:chExt cx="1274994" cy="419100"/>
          </a:xfrm>
        </p:grpSpPr>
        <p:sp>
          <p:nvSpPr>
            <p:cNvPr id="239" name="Freeform 239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0" name="TextBox 240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640" tIns="45640" rIns="45640" bIns="456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41" name="Group 241"/>
          <p:cNvGrpSpPr/>
          <p:nvPr/>
        </p:nvGrpSpPr>
        <p:grpSpPr>
          <a:xfrm>
            <a:off x="7113383" y="22253896"/>
            <a:ext cx="1247733" cy="410139"/>
            <a:chOff x="0" y="0"/>
            <a:chExt cx="1274994" cy="419100"/>
          </a:xfrm>
        </p:grpSpPr>
        <p:sp>
          <p:nvSpPr>
            <p:cNvPr id="242" name="Freeform 242"/>
            <p:cNvSpPr/>
            <p:nvPr/>
          </p:nvSpPr>
          <p:spPr>
            <a:xfrm>
              <a:off x="0" y="0"/>
              <a:ext cx="1274994" cy="419100"/>
            </a:xfrm>
            <a:custGeom>
              <a:avLst/>
              <a:gdLst/>
              <a:ahLst/>
              <a:cxnLst/>
              <a:rect l="l" t="t" r="r" b="b"/>
              <a:pathLst>
                <a:path w="1274994" h="419100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3" name="TextBox 243"/>
            <p:cNvSpPr txBox="1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lIns="45640" tIns="45640" rIns="45640" bIns="4564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4" name="TextBox 244"/>
          <p:cNvSpPr txBox="1"/>
          <p:nvPr/>
        </p:nvSpPr>
        <p:spPr>
          <a:xfrm>
            <a:off x="7424887" y="21320360"/>
            <a:ext cx="700926" cy="192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FÁCIL 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7359931" y="21845522"/>
            <a:ext cx="830838" cy="19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MÉDIO 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7380034" y="22367512"/>
            <a:ext cx="790633" cy="192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DIFÍCIL 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8050871" y="28461434"/>
            <a:ext cx="230056" cy="20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2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8050871" y="29219077"/>
            <a:ext cx="230056" cy="20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3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8050871" y="29974062"/>
            <a:ext cx="230056" cy="20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4</a:t>
            </a:r>
          </a:p>
        </p:txBody>
      </p:sp>
      <p:sp>
        <p:nvSpPr>
          <p:cNvPr id="250" name="TextBox 250"/>
          <p:cNvSpPr txBox="1"/>
          <p:nvPr/>
        </p:nvSpPr>
        <p:spPr>
          <a:xfrm>
            <a:off x="21073715" y="26827751"/>
            <a:ext cx="2691322" cy="17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50%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749</Words>
  <Application>Microsoft Office PowerPoint</Application>
  <PresentationFormat>Personalizar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</vt:lpstr>
      <vt:lpstr>Arial</vt:lpstr>
      <vt:lpstr>Arial Bold</vt:lpstr>
      <vt:lpstr>SCR-N Seven Bold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Banner_FECAP_ADS1_MLBJ</dc:title>
  <dc:creator>25028271</dc:creator>
  <cp:lastModifiedBy>25028271</cp:lastModifiedBy>
  <cp:revision>7</cp:revision>
  <dcterms:created xsi:type="dcterms:W3CDTF">2006-08-16T00:00:00Z</dcterms:created>
  <dcterms:modified xsi:type="dcterms:W3CDTF">2025-11-07T01:00:48Z</dcterms:modified>
  <dc:identifier>DAG3lf0JZK0</dc:identifier>
</cp:coreProperties>
</file>